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3" r:id="rId7"/>
    <p:sldId id="261" r:id="rId8"/>
    <p:sldId id="260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ulya Jasti" userId="82e29e3d824155ae" providerId="LiveId" clId="{D99FF435-C8D7-4C9C-96EB-329A835F6279}"/>
    <pc:docChg chg="custSel modSld">
      <pc:chgData name="Amulya Jasti" userId="82e29e3d824155ae" providerId="LiveId" clId="{D99FF435-C8D7-4C9C-96EB-329A835F6279}" dt="2025-10-18T19:07:35.069" v="89" actId="20577"/>
      <pc:docMkLst>
        <pc:docMk/>
      </pc:docMkLst>
      <pc:sldChg chg="modSp mod">
        <pc:chgData name="Amulya Jasti" userId="82e29e3d824155ae" providerId="LiveId" clId="{D99FF435-C8D7-4C9C-96EB-329A835F6279}" dt="2025-10-18T19:07:35.069" v="89" actId="20577"/>
        <pc:sldMkLst>
          <pc:docMk/>
          <pc:sldMk cId="438941446" sldId="256"/>
        </pc:sldMkLst>
        <pc:spChg chg="mod">
          <ac:chgData name="Amulya Jasti" userId="82e29e3d824155ae" providerId="LiveId" clId="{D99FF435-C8D7-4C9C-96EB-329A835F6279}" dt="2025-10-18T19:07:35.069" v="89" actId="20577"/>
          <ac:spMkLst>
            <pc:docMk/>
            <pc:sldMk cId="438941446" sldId="256"/>
            <ac:spMk id="2" creationId="{56564307-CCFE-C2DA-C3FA-24841BC51525}"/>
          </ac:spMkLst>
        </pc:spChg>
        <pc:spChg chg="mod">
          <ac:chgData name="Amulya Jasti" userId="82e29e3d824155ae" providerId="LiveId" clId="{D99FF435-C8D7-4C9C-96EB-329A835F6279}" dt="2025-10-18T19:07:08.398" v="0" actId="20577"/>
          <ac:spMkLst>
            <pc:docMk/>
            <pc:sldMk cId="438941446" sldId="256"/>
            <ac:spMk id="3" creationId="{B6DC7054-4E10-828A-385E-C28E5C403031}"/>
          </ac:spMkLst>
        </pc:spChg>
      </pc:sldChg>
    </pc:docChg>
  </pc:docChgLst>
  <pc:docChgLst>
    <pc:chgData name="Amulya Jasti" userId="82e29e3d824155ae" providerId="LiveId" clId="{699AED76-FAFB-4B39-8FB1-D0317DBCF86B}"/>
    <pc:docChg chg="undo custSel addSld delSld modSld sldOrd">
      <pc:chgData name="Amulya Jasti" userId="82e29e3d824155ae" providerId="LiveId" clId="{699AED76-FAFB-4B39-8FB1-D0317DBCF86B}" dt="2024-12-05T16:45:07.390" v="1711" actId="20577"/>
      <pc:docMkLst>
        <pc:docMk/>
      </pc:docMkLst>
      <pc:sldChg chg="modSp new mod">
        <pc:chgData name="Amulya Jasti" userId="82e29e3d824155ae" providerId="LiveId" clId="{699AED76-FAFB-4B39-8FB1-D0317DBCF86B}" dt="2024-12-05T05:28:43.836" v="229" actId="2711"/>
        <pc:sldMkLst>
          <pc:docMk/>
          <pc:sldMk cId="438941446" sldId="256"/>
        </pc:sldMkLst>
      </pc:sldChg>
      <pc:sldChg chg="modSp new mod">
        <pc:chgData name="Amulya Jasti" userId="82e29e3d824155ae" providerId="LiveId" clId="{699AED76-FAFB-4B39-8FB1-D0317DBCF86B}" dt="2024-12-05T05:29:28.182" v="235" actId="20577"/>
        <pc:sldMkLst>
          <pc:docMk/>
          <pc:sldMk cId="3365414224" sldId="257"/>
        </pc:sldMkLst>
      </pc:sldChg>
      <pc:sldChg chg="modSp new mod">
        <pc:chgData name="Amulya Jasti" userId="82e29e3d824155ae" providerId="LiveId" clId="{699AED76-FAFB-4B39-8FB1-D0317DBCF86B}" dt="2024-12-05T16:45:07.390" v="1711" actId="20577"/>
        <pc:sldMkLst>
          <pc:docMk/>
          <pc:sldMk cId="2243599850" sldId="258"/>
        </pc:sldMkLst>
      </pc:sldChg>
      <pc:sldChg chg="addSp modSp new mod">
        <pc:chgData name="Amulya Jasti" userId="82e29e3d824155ae" providerId="LiveId" clId="{699AED76-FAFB-4B39-8FB1-D0317DBCF86B}" dt="2024-12-05T14:04:11.426" v="593" actId="1076"/>
        <pc:sldMkLst>
          <pc:docMk/>
          <pc:sldMk cId="1720007585" sldId="259"/>
        </pc:sldMkLst>
      </pc:sldChg>
      <pc:sldChg chg="modSp new mod ord">
        <pc:chgData name="Amulya Jasti" userId="82e29e3d824155ae" providerId="LiveId" clId="{699AED76-FAFB-4B39-8FB1-D0317DBCF86B}" dt="2024-12-05T14:23:45.210" v="1553" actId="20577"/>
        <pc:sldMkLst>
          <pc:docMk/>
          <pc:sldMk cId="3991349698" sldId="260"/>
        </pc:sldMkLst>
      </pc:sldChg>
      <pc:sldChg chg="modSp new mod">
        <pc:chgData name="Amulya Jasti" userId="82e29e3d824155ae" providerId="LiveId" clId="{699AED76-FAFB-4B39-8FB1-D0317DBCF86B}" dt="2024-12-05T15:00:31.446" v="1555" actId="21"/>
        <pc:sldMkLst>
          <pc:docMk/>
          <pc:sldMk cId="3920395960" sldId="261"/>
        </pc:sldMkLst>
      </pc:sldChg>
      <pc:sldChg chg="addSp delSp modSp add mod">
        <pc:chgData name="Amulya Jasti" userId="82e29e3d824155ae" providerId="LiveId" clId="{699AED76-FAFB-4B39-8FB1-D0317DBCF86B}" dt="2024-12-05T14:22:47.392" v="1408" actId="1076"/>
        <pc:sldMkLst>
          <pc:docMk/>
          <pc:sldMk cId="1185308532" sldId="262"/>
        </pc:sldMkLst>
      </pc:sldChg>
      <pc:sldChg chg="new del">
        <pc:chgData name="Amulya Jasti" userId="82e29e3d824155ae" providerId="LiveId" clId="{699AED76-FAFB-4B39-8FB1-D0317DBCF86B}" dt="2024-12-05T14:19:04.413" v="1364" actId="680"/>
        <pc:sldMkLst>
          <pc:docMk/>
          <pc:sldMk cId="2936308585" sldId="262"/>
        </pc:sldMkLst>
      </pc:sldChg>
      <pc:sldChg chg="modSp new del mod">
        <pc:chgData name="Amulya Jasti" userId="82e29e3d824155ae" providerId="LiveId" clId="{699AED76-FAFB-4B39-8FB1-D0317DBCF86B}" dt="2024-12-05T14:18:59.292" v="1362" actId="47"/>
        <pc:sldMkLst>
          <pc:docMk/>
          <pc:sldMk cId="3625397823" sldId="262"/>
        </pc:sldMkLst>
      </pc:sldChg>
      <pc:sldChg chg="add del">
        <pc:chgData name="Amulya Jasti" userId="82e29e3d824155ae" providerId="LiveId" clId="{699AED76-FAFB-4B39-8FB1-D0317DBCF86B}" dt="2024-12-05T14:21:18.038" v="1401"/>
        <pc:sldMkLst>
          <pc:docMk/>
          <pc:sldMk cId="2040100152" sldId="263"/>
        </pc:sldMkLst>
      </pc:sldChg>
      <pc:sldChg chg="addSp delSp modSp add mod">
        <pc:chgData name="Amulya Jasti" userId="82e29e3d824155ae" providerId="LiveId" clId="{699AED76-FAFB-4B39-8FB1-D0317DBCF86B}" dt="2024-12-05T15:07:35.569" v="1596" actId="20577"/>
        <pc:sldMkLst>
          <pc:docMk/>
          <pc:sldMk cId="2825266939" sldId="263"/>
        </pc:sldMkLst>
      </pc:sldChg>
      <pc:sldChg chg="add del">
        <pc:chgData name="Amulya Jasti" userId="82e29e3d824155ae" providerId="LiveId" clId="{699AED76-FAFB-4B39-8FB1-D0317DBCF86B}" dt="2024-12-05T14:21:23.076" v="1403"/>
        <pc:sldMkLst>
          <pc:docMk/>
          <pc:sldMk cId="3185777392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B1A0F-321C-5777-3BEA-3D207A5A31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B25D15-A8A5-391C-725F-E261026155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4A0CA-27D2-F4A1-39DF-804DF078C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BB49-E148-420A-AB10-DBF7EF4ECA1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FFA97-A9D1-29C8-6ABF-FFC4A08F9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5561DA-E448-3676-1551-A1CC91B7D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F570-09E7-44D5-AAF0-B674AD5C5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0853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FDCA9-BEFD-123B-C270-51C823EBC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1C3F33-C6B4-19BC-9B09-BB4E6F478A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15196-111C-69AD-6D26-FF09FE2F2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BB49-E148-420A-AB10-DBF7EF4ECA1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62378E-0DAE-1E79-376A-94AD06A26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7CA39-B45E-8AC4-AF66-8A4AED5A9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F570-09E7-44D5-AAF0-B674AD5C5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016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0E989-C1F2-AC99-6D06-5E34C308D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439BAB-6C85-1547-CC50-CAB21C461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B18D5-6494-C5EA-72E3-1B7347F06C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BB49-E148-420A-AB10-DBF7EF4ECA1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942A4-64A3-29E1-065F-D7B8C4643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E69011-937A-B49B-B2A8-7C52B5619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F570-09E7-44D5-AAF0-B674AD5C5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710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273AE-0E0E-C85A-5DD5-30135677A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044928-E5BA-5116-7723-F4B6E87243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0E6347-234C-6AC6-480F-7A81A456A5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320CE0-32BB-C464-CA2A-8EBEBD03B3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BB49-E148-420A-AB10-DBF7EF4ECA1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7C82E4-6B19-6DD8-D84A-E128B2CC0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925D21-53FC-3918-4AD2-627B49480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F570-09E7-44D5-AAF0-B674AD5C5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169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75CCF-BA9F-2E2A-42E8-7F67121FA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449DC-74E7-B672-B1A2-63B676877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7CF35D-F1AA-DF87-607A-4B9739E540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412A79-2EA5-59F8-9549-070C030ED3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921607-854E-6101-95A1-CCEF7E3B18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5453DC-5B70-FA23-46AD-509B1CF74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BB49-E148-420A-AB10-DBF7EF4ECA1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9EF3ED-F94F-3F76-20A4-4F272B989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34FBDD-EDFC-B87D-42A4-1E83A7E36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F570-09E7-44D5-AAF0-B674AD5C5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0145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15CB4-48CD-60FF-8E2B-42C3CDE5E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61061D-DB1B-D03E-D781-58D292A6A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BB49-E148-420A-AB10-DBF7EF4ECA1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0BC054-1F90-698F-D8C5-DF4552F47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57AFBF-40C6-EA91-B858-3AC2843D3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F570-09E7-44D5-AAF0-B674AD5C5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9818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A8943E-0EFF-1D08-507D-DEB79DD6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BB49-E148-420A-AB10-DBF7EF4ECA1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520656-52FC-F591-891A-506770296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054D6B-163C-92C5-0BFA-BA6DB1C9A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F570-09E7-44D5-AAF0-B674AD5C5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792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6E306-C168-B4E4-892C-4ED7BF549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7AF6B-DC22-387A-F9EA-1854832CD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B9A8A-6DCA-5E0E-555B-9F9148C23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A3560-E9D3-B33D-AF43-6FFEB6B4A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BB49-E148-420A-AB10-DBF7EF4ECA1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7B2784-6CF1-D70E-1B90-5381569E3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7F0909-6D96-4F8D-2A18-6F328D684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F570-09E7-44D5-AAF0-B674AD5C5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847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5FD295-724E-1165-A42C-9194960C7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61BFB3-44EE-9D7D-8359-CC575FD961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50CC327-FC47-2525-6D77-407870B698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859C4-9620-F793-EC52-E5D07859E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BB49-E148-420A-AB10-DBF7EF4ECA1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FEBA2A-C8D7-80BA-8E09-4A1A58BF2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73411-76AC-9938-FFA1-EA70AA2CA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F570-09E7-44D5-AAF0-B674AD5C5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57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91BBC-F8EF-7180-B665-DABA2F53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77427C-3BDF-0B49-4C0C-77B7D8E037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40DD8-FD2A-CAEB-A3FD-A47113D8C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BB49-E148-420A-AB10-DBF7EF4ECA1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9282D4-534A-0DBF-9AB5-73000BF24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85131-4139-4C56-580E-A52C97925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F570-09E7-44D5-AAF0-B674AD5C5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35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30D4D7-9DE4-75B4-6ABD-84751E8ECB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B07BC1-0FC3-D87F-E4E9-CDC3203349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9C7361-12C2-ADE9-EE6E-49AF49F04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94BB49-E148-420A-AB10-DBF7EF4ECA1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A6931-B5A6-97D2-FBF8-39B869193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64938-38C8-5BF3-D7F0-7322842D7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D6F570-09E7-44D5-AAF0-B674AD5C5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21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C1AF9B-212E-75AB-C2F0-9B2083D16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B2605C-2C0A-FCD5-29BB-94807582B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C5A04-FA3B-90E2-3DDC-803F109326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94BB49-E148-420A-AB10-DBF7EF4ECA11}" type="datetimeFigureOut">
              <a:rPr lang="en-US" smtClean="0"/>
              <a:t>10/18/2025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86462-94EF-1F39-AE88-0FD5D811B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2A571E-B839-57D6-EE09-76537C3830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D6F570-09E7-44D5-AAF0-B674AD5C59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883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64307-CCFE-C2DA-C3FA-24841BC5152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Century Schoolbook" panose="02040604050505020304" pitchFamily="18" charset="0"/>
              </a:rPr>
              <a:t>Effectiveness of Smart Meters in Bedford and Cambridge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DC7054-4E10-828A-385E-C28E5C4030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Century Schoolbook" panose="02040604050505020304" pitchFamily="18" charset="0"/>
              </a:rPr>
              <a:t>Amulya Jasti</a:t>
            </a:r>
          </a:p>
        </p:txBody>
      </p:sp>
    </p:spTree>
    <p:extLst>
      <p:ext uri="{BB962C8B-B14F-4D97-AF65-F5344CB8AC3E}">
        <p14:creationId xmlns:p14="http://schemas.microsoft.com/office/powerpoint/2010/main" val="438941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12710-7F7D-4BAF-01F3-379B624FF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Schoolbook" panose="02040604050505020304" pitchFamily="18" charset="0"/>
              </a:rPr>
              <a:t>Smart meter rollout in the UK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BF0244-6E5E-24C8-846A-367F1883BB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0" dirty="0">
                <a:effectLst/>
                <a:latin typeface="Century Schoolbook" panose="02040604050505020304" pitchFamily="18" charset="0"/>
              </a:rPr>
              <a:t>national program to replace traditional energy meters with smart meters</a:t>
            </a:r>
          </a:p>
          <a:p>
            <a:r>
              <a:rPr lang="en-US" b="0" dirty="0">
                <a:effectLst/>
                <a:latin typeface="Century Schoolbook" panose="02040604050505020304" pitchFamily="18" charset="0"/>
              </a:rPr>
              <a:t>offering more accurate information on energy usage and costs to both suppliers and households</a:t>
            </a:r>
          </a:p>
          <a:p>
            <a:pPr marL="0" indent="0">
              <a:buNone/>
            </a:pPr>
            <a:endParaRPr lang="en-US" b="0" dirty="0">
              <a:effectLst/>
              <a:latin typeface="Century Schoolbook" panose="020406040505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Century Schoolbook" panose="02040604050505020304" pitchFamily="18" charset="0"/>
              </a:rPr>
              <a:t>Our thoughts?</a:t>
            </a:r>
          </a:p>
          <a:p>
            <a:r>
              <a:rPr lang="en-US" b="0" dirty="0">
                <a:effectLst/>
                <a:latin typeface="Century Schoolbook" panose="02040604050505020304" pitchFamily="18" charset="0"/>
              </a:rPr>
              <a:t>better transparency on energy consumption + live information on energy </a:t>
            </a:r>
            <a:r>
              <a:rPr lang="en-US" b="0" dirty="0">
                <a:effectLst/>
                <a:latin typeface="Century Schoolbook" panose="02040604050505020304" pitchFamily="18" charset="0"/>
                <a:sym typeface="Wingdings" panose="05000000000000000000" pitchFamily="2" charset="2"/>
              </a:rPr>
              <a:t> </a:t>
            </a:r>
            <a:r>
              <a:rPr lang="en-US" b="0" dirty="0">
                <a:effectLst/>
                <a:latin typeface="Century Schoolbook" panose="02040604050505020304" pitchFamily="18" charset="0"/>
              </a:rPr>
              <a:t>more accurate decisions about how much electricity to consum</a:t>
            </a:r>
            <a:r>
              <a:rPr lang="en-US" dirty="0">
                <a:latin typeface="Century Schoolbook" panose="02040604050505020304" pitchFamily="18" charset="0"/>
              </a:rPr>
              <a:t>e</a:t>
            </a:r>
          </a:p>
          <a:p>
            <a:r>
              <a:rPr lang="en-US" b="0" dirty="0">
                <a:effectLst/>
                <a:latin typeface="Century Schoolbook" panose="02040604050505020304" pitchFamily="18" charset="0"/>
              </a:rPr>
              <a:t>This can reveal patterns like the price or income demands of elasticity</a:t>
            </a:r>
            <a:r>
              <a:rPr lang="en-US" dirty="0">
                <a:latin typeface="Century Schoolbook" panose="02040604050505020304" pitchFamily="18" charset="0"/>
              </a:rPr>
              <a:t>, which can be used for peak pricing.</a:t>
            </a:r>
            <a:endParaRPr lang="en-US" b="0" dirty="0">
              <a:effectLst/>
              <a:latin typeface="Century Schoolbook" panose="02040604050505020304" pitchFamily="18" charset="0"/>
            </a:endParaRPr>
          </a:p>
          <a:p>
            <a:endParaRPr lang="en-US" b="0" dirty="0">
              <a:effectLst/>
              <a:latin typeface="Century Schoolbook" panose="02040604050505020304" pitchFamily="18" charset="0"/>
            </a:endParaRPr>
          </a:p>
          <a:p>
            <a:endParaRPr lang="en-US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5414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25492-EB98-6E53-2E92-743238EAC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Schoolbook" panose="02040604050505020304" pitchFamily="18" charset="0"/>
              </a:rPr>
              <a:t>Data Sources and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A9DBAA-A09B-D7C1-2291-D70D22922E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entury Schoolbook" panose="02040604050505020304" pitchFamily="18" charset="0"/>
              </a:rPr>
              <a:t>Weave: open access data parquet on UK smart meters</a:t>
            </a:r>
          </a:p>
          <a:p>
            <a:r>
              <a:rPr lang="en-US" dirty="0">
                <a:latin typeface="Century Schoolbook" panose="02040604050505020304" pitchFamily="18" charset="0"/>
              </a:rPr>
              <a:t>EPN: a specific distributor in the UK (used for case study)</a:t>
            </a:r>
          </a:p>
          <a:p>
            <a:r>
              <a:rPr lang="en-US" dirty="0">
                <a:latin typeface="Century Schoolbook" panose="02040604050505020304" pitchFamily="18" charset="0"/>
              </a:rPr>
              <a:t>UKPN: UK power networks (geographic network boundaries)</a:t>
            </a:r>
          </a:p>
          <a:p>
            <a:endParaRPr lang="en-US" dirty="0">
              <a:latin typeface="Century Schoolbook" panose="02040604050505020304" pitchFamily="18" charset="0"/>
            </a:endParaRPr>
          </a:p>
          <a:p>
            <a:pPr marL="514350" indent="-514350">
              <a:buAutoNum type="arabicPeriod"/>
            </a:pPr>
            <a:r>
              <a:rPr lang="en-US" dirty="0">
                <a:latin typeface="Century Schoolbook" panose="02040604050505020304" pitchFamily="18" charset="0"/>
              </a:rPr>
              <a:t>Aggregate data by time of day</a:t>
            </a:r>
          </a:p>
          <a:p>
            <a:pPr marL="514350" indent="-514350">
              <a:buAutoNum type="arabicPeriod"/>
            </a:pPr>
            <a:r>
              <a:rPr lang="en-US" dirty="0">
                <a:latin typeface="Century Schoolbook" panose="02040604050505020304" pitchFamily="18" charset="0"/>
              </a:rPr>
              <a:t>Aggregate data by substation</a:t>
            </a:r>
          </a:p>
          <a:p>
            <a:pPr marL="514350" indent="-514350">
              <a:buAutoNum type="arabicPeriod"/>
            </a:pPr>
            <a:r>
              <a:rPr lang="en-US" dirty="0">
                <a:latin typeface="Century Schoolbook" panose="02040604050505020304" pitchFamily="18" charset="0"/>
              </a:rPr>
              <a:t>Observe variations temporally and geographically</a:t>
            </a:r>
          </a:p>
          <a:p>
            <a:endParaRPr lang="en-US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599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06624A-BC53-9717-C487-EDCE136F0C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Schoolbook" panose="02040604050505020304" pitchFamily="18" charset="0"/>
              </a:rPr>
              <a:t>What we found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62A467-253C-982C-B642-60E9345586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Century Schoolbook" panose="02040604050505020304" pitchFamily="18" charset="0"/>
              </a:rPr>
              <a:t>Trends:</a:t>
            </a:r>
          </a:p>
          <a:p>
            <a:pPr lvl="1"/>
            <a:endParaRPr lang="en-US" dirty="0">
              <a:latin typeface="Century Schoolbook" panose="02040604050505020304" pitchFamily="18" charset="0"/>
            </a:endParaRPr>
          </a:p>
        </p:txBody>
      </p:sp>
      <p:pic>
        <p:nvPicPr>
          <p:cNvPr id="5" name="Picture 4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03B01765-5074-24D0-8CD7-5393E7554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9142" y="2410564"/>
            <a:ext cx="9093716" cy="3727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007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440ABB-E972-8E6F-3BED-FCCEBF20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CC4BCB-47A6-5FD5-6F6D-6B280EAB5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Schoolbook" panose="02040604050505020304" pitchFamily="18" charset="0"/>
              </a:rPr>
              <a:t>Same trends observed regionally</a:t>
            </a:r>
          </a:p>
        </p:txBody>
      </p:sp>
      <p:pic>
        <p:nvPicPr>
          <p:cNvPr id="8" name="Picture 7" descr="A map with blue and red text&#10;&#10;Description automatically generated">
            <a:extLst>
              <a:ext uri="{FF2B5EF4-FFF2-40B4-BE49-F238E27FC236}">
                <a16:creationId xmlns:a16="http://schemas.microsoft.com/office/drawing/2014/main" id="{D8F2C9C7-31F9-B7DF-C43D-24430955B8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46294"/>
            <a:ext cx="10515600" cy="4646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308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80102-2A80-2648-6EC5-D0FA4F0DB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CFA7DC-78BD-A523-108F-71D3B18FA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Schoolbook" panose="02040604050505020304" pitchFamily="18" charset="0"/>
              </a:rPr>
              <a:t>Average consumption by substation</a:t>
            </a:r>
          </a:p>
        </p:txBody>
      </p:sp>
      <p:pic>
        <p:nvPicPr>
          <p:cNvPr id="4" name="Picture 3" descr="A map with purple dots&#10;&#10;Description automatically generated">
            <a:extLst>
              <a:ext uri="{FF2B5EF4-FFF2-40B4-BE49-F238E27FC236}">
                <a16:creationId xmlns:a16="http://schemas.microsoft.com/office/drawing/2014/main" id="{9B9AFD27-A392-FA29-E3CB-F99FBEEEB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0960" y="1690688"/>
            <a:ext cx="7370079" cy="461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2669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7D2CC-C2F3-5240-E2CC-E5B08A82F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Schoolbook" panose="02040604050505020304" pitchFamily="18" charset="0"/>
              </a:rPr>
              <a:t>Policy Recommendation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2222B3-93A5-77BE-E4BE-1FE250A6B0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entury Schoolbook" panose="02040604050505020304" pitchFamily="18" charset="0"/>
              </a:rPr>
              <a:t>Peak pricing during:</a:t>
            </a:r>
          </a:p>
          <a:p>
            <a:pPr lvl="1"/>
            <a:r>
              <a:rPr lang="en-US" dirty="0">
                <a:latin typeface="Century Schoolbook" panose="02040604050505020304" pitchFamily="18" charset="0"/>
              </a:rPr>
              <a:t>5:00pm-9:00pm</a:t>
            </a:r>
          </a:p>
          <a:p>
            <a:pPr lvl="1"/>
            <a:r>
              <a:rPr lang="en-US" dirty="0">
                <a:latin typeface="Century Schoolbook" panose="02040604050505020304" pitchFamily="18" charset="0"/>
              </a:rPr>
              <a:t>Greater than 275 </a:t>
            </a:r>
            <a:r>
              <a:rPr lang="en-US" dirty="0" err="1">
                <a:latin typeface="Century Schoolbook" panose="02040604050505020304" pitchFamily="18" charset="0"/>
              </a:rPr>
              <a:t>kwH</a:t>
            </a:r>
            <a:endParaRPr lang="en-US" dirty="0">
              <a:latin typeface="Century Schoolbook" panose="02040604050505020304" pitchFamily="18" charset="0"/>
            </a:endParaRPr>
          </a:p>
          <a:p>
            <a:r>
              <a:rPr lang="en-US" dirty="0">
                <a:latin typeface="Century Schoolbook" panose="02040604050505020304" pitchFamily="18" charset="0"/>
              </a:rPr>
              <a:t>Current pricing: 24.50p per kWh</a:t>
            </a:r>
          </a:p>
          <a:p>
            <a:r>
              <a:rPr lang="en-US" dirty="0">
                <a:latin typeface="Century Schoolbook" panose="02040604050505020304" pitchFamily="18" charset="0"/>
              </a:rPr>
              <a:t>Recommended peak pricing: 30p per kWh (22.45% increase)</a:t>
            </a:r>
          </a:p>
          <a:p>
            <a:r>
              <a:rPr lang="en-US" dirty="0">
                <a:latin typeface="Century Schoolbook" panose="02040604050505020304" pitchFamily="18" charset="0"/>
              </a:rPr>
              <a:t>Price demand elasticity for electricity: −0.607 (for every 1 percent increase in electricity price, demand decreases by 0.607%)</a:t>
            </a:r>
          </a:p>
          <a:p>
            <a:pPr lvl="1"/>
            <a:r>
              <a:rPr lang="en-US" dirty="0">
                <a:latin typeface="Century Schoolbook" panose="02040604050505020304" pitchFamily="18" charset="0"/>
              </a:rPr>
              <a:t>Estimated to reduce demand during peak priced hours by 13.63%</a:t>
            </a:r>
          </a:p>
          <a:p>
            <a:pPr lvl="1"/>
            <a:endParaRPr lang="en-US" dirty="0">
              <a:latin typeface="Century Schoolbook" panose="02040604050505020304" pitchFamily="18" charset="0"/>
            </a:endParaRPr>
          </a:p>
          <a:p>
            <a:pPr lvl="1"/>
            <a:endParaRPr lang="en-US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0395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2B01E-DA83-918F-9770-400EA1DB6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entury Schoolbook" panose="02040604050505020304" pitchFamily="18" charset="0"/>
              </a:rPr>
              <a:t>Potential Improvements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E77A62-7133-76B5-F536-C67A5AA8F2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Century Schoolbook" panose="02040604050505020304" pitchFamily="18" charset="0"/>
              </a:rPr>
              <a:t>Study percentiles of consumption</a:t>
            </a:r>
          </a:p>
          <a:p>
            <a:pPr lvl="1"/>
            <a:r>
              <a:rPr lang="en-US" dirty="0">
                <a:latin typeface="Century Schoolbook" panose="02040604050505020304" pitchFamily="18" charset="0"/>
              </a:rPr>
              <a:t>We can put additional pricing on the top X% of consumers during peak hours</a:t>
            </a:r>
          </a:p>
          <a:p>
            <a:r>
              <a:rPr lang="en-US" dirty="0">
                <a:latin typeface="Century Schoolbook" panose="02040604050505020304" pitchFamily="18" charset="0"/>
              </a:rPr>
              <a:t>Understand variability by day of the week</a:t>
            </a:r>
          </a:p>
          <a:p>
            <a:pPr lvl="1"/>
            <a:r>
              <a:rPr lang="en-US" dirty="0">
                <a:latin typeface="Century Schoolbook" panose="02040604050505020304" pitchFamily="18" charset="0"/>
              </a:rPr>
              <a:t>Should peak pricing be different on weekdays vs weekends?</a:t>
            </a:r>
          </a:p>
          <a:p>
            <a:r>
              <a:rPr lang="en-US" dirty="0">
                <a:latin typeface="Century Schoolbook" panose="02040604050505020304" pitchFamily="18" charset="0"/>
              </a:rPr>
              <a:t>Add demographic variability, i.e. income, to study various consumption rates</a:t>
            </a:r>
          </a:p>
          <a:p>
            <a:pPr lvl="1"/>
            <a:r>
              <a:rPr lang="en-US" dirty="0">
                <a:latin typeface="Century Schoolbook" panose="02040604050505020304" pitchFamily="18" charset="0"/>
              </a:rPr>
              <a:t>We can better understand where more people are consuming and do income-based pricing</a:t>
            </a:r>
          </a:p>
          <a:p>
            <a:endParaRPr lang="en-US" dirty="0">
              <a:latin typeface="Century Schoolbook" panose="02040604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1349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279</Words>
  <Application>Microsoft Office PowerPoint</Application>
  <PresentationFormat>Widescreen</PresentationFormat>
  <Paragraphs>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Century Schoolbook</vt:lpstr>
      <vt:lpstr>Office Theme</vt:lpstr>
      <vt:lpstr>Effectiveness of Smart Meters in Bedford and Cambridge</vt:lpstr>
      <vt:lpstr>Smart meter rollout in the UK</vt:lpstr>
      <vt:lpstr>Data Sources and Methodology</vt:lpstr>
      <vt:lpstr>What we found</vt:lpstr>
      <vt:lpstr>Same trends observed regionally</vt:lpstr>
      <vt:lpstr>Average consumption by substation</vt:lpstr>
      <vt:lpstr>Policy Recommendation</vt:lpstr>
      <vt:lpstr>Potential Improvements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Amulya Jasti</dc:creator>
  <cp:lastModifiedBy>Amulya Jasti</cp:lastModifiedBy>
  <cp:revision>1</cp:revision>
  <dcterms:created xsi:type="dcterms:W3CDTF">2024-12-05T05:23:06Z</dcterms:created>
  <dcterms:modified xsi:type="dcterms:W3CDTF">2025-10-18T19:07:39Z</dcterms:modified>
</cp:coreProperties>
</file>